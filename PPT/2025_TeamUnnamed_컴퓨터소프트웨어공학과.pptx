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1" r:id="rId2"/>
  </p:sldIdLst>
  <p:sldSz cx="21383625" cy="30275213"/>
  <p:notesSz cx="6858000" cy="9144000"/>
  <p:defaultTextStyle>
    <a:defPPr>
      <a:defRPr lang="ko-KR"/>
    </a:defPPr>
    <a:lvl1pPr marL="0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1pPr>
    <a:lvl2pPr marL="1475007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2pPr>
    <a:lvl3pPr marL="2950016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3pPr>
    <a:lvl4pPr marL="4425022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4pPr>
    <a:lvl5pPr marL="5900029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5pPr>
    <a:lvl6pPr marL="7375035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6pPr>
    <a:lvl7pPr marL="8850044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7pPr>
    <a:lvl8pPr marL="10325052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8pPr>
    <a:lvl9pPr marL="11800059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6" userDrawn="1">
          <p15:clr>
            <a:srgbClr val="A4A3A4"/>
          </p15:clr>
        </p15:guide>
        <p15:guide id="2" pos="6735" userDrawn="1">
          <p15:clr>
            <a:srgbClr val="A4A3A4"/>
          </p15:clr>
        </p15:guide>
        <p15:guide id="3" pos="424" userDrawn="1">
          <p15:clr>
            <a:srgbClr val="A4A3A4"/>
          </p15:clr>
        </p15:guide>
        <p15:guide id="4" pos="130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6EAA"/>
    <a:srgbClr val="FFFFFF"/>
    <a:srgbClr val="4BACC6"/>
    <a:srgbClr val="FFC34B"/>
    <a:srgbClr val="F7A400"/>
    <a:srgbClr val="F37413"/>
    <a:srgbClr val="F9E699"/>
    <a:srgbClr val="9CC57D"/>
    <a:srgbClr val="8EA604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61" autoAdjust="0"/>
    <p:restoredTop sz="94746" autoAdjust="0"/>
  </p:normalViewPr>
  <p:slideViewPr>
    <p:cSldViewPr showGuides="1">
      <p:cViewPr>
        <p:scale>
          <a:sx n="75" d="100"/>
          <a:sy n="75" d="100"/>
        </p:scale>
        <p:origin x="-2034" y="-7212"/>
      </p:cViewPr>
      <p:guideLst>
        <p:guide orient="horz" pos="9536"/>
        <p:guide pos="6735"/>
        <p:guide pos="424"/>
        <p:guide pos="130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2080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75A67-930C-4E92-A71E-AE4DD44D14DD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11B17-461A-4354-B8E8-CB912E0EE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355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1pPr>
    <a:lvl2pPr marL="323013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2pPr>
    <a:lvl3pPr marL="646026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3pPr>
    <a:lvl4pPr marL="969039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4pPr>
    <a:lvl5pPr marL="1292054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5pPr>
    <a:lvl6pPr marL="1615066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6pPr>
    <a:lvl7pPr marL="1938080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7pPr>
    <a:lvl8pPr marL="2261093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8pPr>
    <a:lvl9pPr marL="2584107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11B17-461A-4354-B8E8-CB912E0EE15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199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E54038C-C7A5-DF70-164D-A1560BD81914}"/>
              </a:ext>
            </a:extLst>
          </p:cNvPr>
          <p:cNvGrpSpPr/>
          <p:nvPr userDrawn="1"/>
        </p:nvGrpSpPr>
        <p:grpSpPr>
          <a:xfrm>
            <a:off x="0" y="30037286"/>
            <a:ext cx="21383626" cy="237927"/>
            <a:chOff x="7698" y="1"/>
            <a:chExt cx="32363652" cy="55516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8D7BA7F9-2FE2-459B-0C4D-1FAD48C85AB1}"/>
                </a:ext>
              </a:extLst>
            </p:cNvPr>
            <p:cNvSpPr/>
            <p:nvPr/>
          </p:nvSpPr>
          <p:spPr>
            <a:xfrm>
              <a:off x="10771260" y="1"/>
              <a:ext cx="21600090" cy="5551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0AA8ECC-4BF9-BE30-BD88-6DE5F2429749}"/>
                </a:ext>
              </a:extLst>
            </p:cNvPr>
            <p:cNvSpPr/>
            <p:nvPr/>
          </p:nvSpPr>
          <p:spPr>
            <a:xfrm>
              <a:off x="7698" y="1"/>
              <a:ext cx="21600090" cy="5551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9CA4F2C-FC5F-7C1F-3730-792D44BB09F7}"/>
                </a:ext>
              </a:extLst>
            </p:cNvPr>
            <p:cNvSpPr/>
            <p:nvPr/>
          </p:nvSpPr>
          <p:spPr>
            <a:xfrm>
              <a:off x="5399598" y="1"/>
              <a:ext cx="21600090" cy="55516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19DEB0-06FE-61C4-83A1-E6DDEED2EAEB}"/>
              </a:ext>
            </a:extLst>
          </p:cNvPr>
          <p:cNvGrpSpPr/>
          <p:nvPr userDrawn="1"/>
        </p:nvGrpSpPr>
        <p:grpSpPr>
          <a:xfrm>
            <a:off x="-235" y="0"/>
            <a:ext cx="21384538" cy="4719954"/>
            <a:chOff x="-26762" y="-1"/>
            <a:chExt cx="30276505" cy="667317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4A0017C-9D1D-44DD-D423-D10D6A6E6057}"/>
                </a:ext>
              </a:extLst>
            </p:cNvPr>
            <p:cNvSpPr/>
            <p:nvPr userDrawn="1"/>
          </p:nvSpPr>
          <p:spPr>
            <a:xfrm>
              <a:off x="-26135" y="-1"/>
              <a:ext cx="30275878" cy="6480000"/>
            </a:xfrm>
            <a:prstGeom prst="rect">
              <a:avLst/>
            </a:prstGeom>
            <a:solidFill>
              <a:srgbClr val="0D6E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F4D5095-DFAB-FCB4-5A66-FCFEACFF5485}"/>
                </a:ext>
              </a:extLst>
            </p:cNvPr>
            <p:cNvSpPr/>
            <p:nvPr/>
          </p:nvSpPr>
          <p:spPr>
            <a:xfrm>
              <a:off x="-26762" y="6199176"/>
              <a:ext cx="30275878" cy="47399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</p:grpSp>
    </p:spTree>
    <p:extLst>
      <p:ext uri="{BB962C8B-B14F-4D97-AF65-F5344CB8AC3E}">
        <p14:creationId xmlns:p14="http://schemas.microsoft.com/office/powerpoint/2010/main" val="2511551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1186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AC176D51-4B99-102F-04CD-89BE9B269BC8}"/>
              </a:ext>
            </a:extLst>
          </p:cNvPr>
          <p:cNvSpPr/>
          <p:nvPr userDrawn="1"/>
        </p:nvSpPr>
        <p:spPr>
          <a:xfrm>
            <a:off x="10691813" y="5285114"/>
            <a:ext cx="0" cy="24189749"/>
          </a:xfrm>
          <a:custGeom>
            <a:avLst/>
            <a:gdLst>
              <a:gd name="connsiteX0" fmla="*/ 0 w 0"/>
              <a:gd name="connsiteY0" fmla="*/ 0 h 34355314"/>
              <a:gd name="connsiteX1" fmla="*/ 0 w 0"/>
              <a:gd name="connsiteY1" fmla="*/ 34355314 h 34355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34355314">
                <a:moveTo>
                  <a:pt x="0" y="0"/>
                </a:moveTo>
                <a:lnTo>
                  <a:pt x="0" y="34355314"/>
                </a:lnTo>
              </a:path>
            </a:pathLst>
          </a:custGeom>
          <a:noFill/>
          <a:ln w="9525">
            <a:solidFill>
              <a:schemeClr val="bg1">
                <a:lumMod val="85000"/>
              </a:schemeClr>
            </a:solidFill>
            <a:headEnd type="oval" w="sm" len="med"/>
            <a:tailEnd type="oval"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2"/>
          </a:p>
        </p:txBody>
      </p:sp>
    </p:spTree>
    <p:extLst>
      <p:ext uri="{BB962C8B-B14F-4D97-AF65-F5344CB8AC3E}">
        <p14:creationId xmlns:p14="http://schemas.microsoft.com/office/powerpoint/2010/main" val="1993999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AC176D51-4B99-102F-04CD-89BE9B269BC8}"/>
              </a:ext>
            </a:extLst>
          </p:cNvPr>
          <p:cNvSpPr/>
          <p:nvPr userDrawn="1"/>
        </p:nvSpPr>
        <p:spPr>
          <a:xfrm>
            <a:off x="10691813" y="5285114"/>
            <a:ext cx="0" cy="24189749"/>
          </a:xfrm>
          <a:custGeom>
            <a:avLst/>
            <a:gdLst>
              <a:gd name="connsiteX0" fmla="*/ 0 w 0"/>
              <a:gd name="connsiteY0" fmla="*/ 0 h 34355314"/>
              <a:gd name="connsiteX1" fmla="*/ 0 w 0"/>
              <a:gd name="connsiteY1" fmla="*/ 34355314 h 34355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34355314">
                <a:moveTo>
                  <a:pt x="0" y="0"/>
                </a:moveTo>
                <a:lnTo>
                  <a:pt x="0" y="34355314"/>
                </a:lnTo>
              </a:path>
            </a:pathLst>
          </a:custGeom>
          <a:noFill/>
          <a:ln w="9525">
            <a:solidFill>
              <a:schemeClr val="bg1">
                <a:lumMod val="85000"/>
              </a:schemeClr>
            </a:solidFill>
            <a:headEnd type="oval" w="sm" len="med"/>
            <a:tailEnd type="oval"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2"/>
          </a:p>
        </p:txBody>
      </p:sp>
    </p:spTree>
    <p:extLst>
      <p:ext uri="{BB962C8B-B14F-4D97-AF65-F5344CB8AC3E}">
        <p14:creationId xmlns:p14="http://schemas.microsoft.com/office/powerpoint/2010/main" val="219652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8675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2448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069181" y="1212415"/>
            <a:ext cx="19245263" cy="5045868"/>
          </a:xfrm>
          <a:prstGeom prst="rect">
            <a:avLst/>
          </a:prstGeom>
        </p:spPr>
        <p:txBody>
          <a:bodyPr vert="horz" lIns="417635" tIns="208818" rIns="417635" bIns="208818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69181" y="7064223"/>
            <a:ext cx="19245263" cy="19980241"/>
          </a:xfrm>
          <a:prstGeom prst="rect">
            <a:avLst/>
          </a:prstGeom>
        </p:spPr>
        <p:txBody>
          <a:bodyPr vert="horz" lIns="417635" tIns="208818" rIns="417635" bIns="208818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069185" y="28060641"/>
            <a:ext cx="4989513" cy="1611875"/>
          </a:xfrm>
          <a:prstGeom prst="rect">
            <a:avLst/>
          </a:prstGeom>
        </p:spPr>
        <p:txBody>
          <a:bodyPr vert="horz" lIns="417635" tIns="208818" rIns="417635" bIns="208818" rtlCol="0" anchor="ctr"/>
          <a:lstStyle>
            <a:lvl1pPr algn="l">
              <a:defRPr sz="36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D32EA-93D2-422C-9D50-DCDFD5662F59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7306075" y="28060641"/>
            <a:ext cx="6771481" cy="1611875"/>
          </a:xfrm>
          <a:prstGeom prst="rect">
            <a:avLst/>
          </a:prstGeom>
        </p:spPr>
        <p:txBody>
          <a:bodyPr vert="horz" lIns="417635" tIns="208818" rIns="417635" bIns="208818" rtlCol="0" anchor="ctr"/>
          <a:lstStyle>
            <a:lvl1pPr algn="ctr">
              <a:defRPr sz="36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5324936" y="28060641"/>
            <a:ext cx="4989513" cy="1611875"/>
          </a:xfrm>
          <a:prstGeom prst="rect">
            <a:avLst/>
          </a:prstGeom>
        </p:spPr>
        <p:txBody>
          <a:bodyPr vert="horz" lIns="417635" tIns="208818" rIns="417635" bIns="208818" rtlCol="0" anchor="ctr"/>
          <a:lstStyle>
            <a:lvl1pPr algn="r">
              <a:defRPr sz="36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A678E-E807-4BC3-8392-26D7FE55F7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511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2" r:id="rId3"/>
    <p:sldLayoutId id="2147483663" r:id="rId4"/>
    <p:sldLayoutId id="2147483659" r:id="rId5"/>
    <p:sldLayoutId id="2147483660" r:id="rId6"/>
  </p:sldLayoutIdLst>
  <p:txStyles>
    <p:titleStyle>
      <a:lvl1pPr algn="ctr" defTabSz="2777100" rtl="0" eaLnBrk="1" latinLnBrk="1" hangingPunct="1">
        <a:spcBef>
          <a:spcPct val="0"/>
        </a:spcBef>
        <a:buNone/>
        <a:defRPr sz="133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41412" indent="-1041412" algn="l" defTabSz="2777100" rtl="0" eaLnBrk="1" latinLnBrk="1" hangingPunct="1">
        <a:spcBef>
          <a:spcPct val="20000"/>
        </a:spcBef>
        <a:buFont typeface="Arial" pitchFamily="34" charset="0"/>
        <a:buChar char="•"/>
        <a:defRPr sz="9708" kern="1200">
          <a:solidFill>
            <a:schemeClr val="tx1"/>
          </a:solidFill>
          <a:latin typeface="+mn-lt"/>
          <a:ea typeface="+mn-ea"/>
          <a:cs typeface="+mn-cs"/>
        </a:defRPr>
      </a:lvl1pPr>
      <a:lvl2pPr marL="2256393" indent="-867844" algn="l" defTabSz="2777100" rtl="0" eaLnBrk="1" latinLnBrk="1" hangingPunct="1">
        <a:spcBef>
          <a:spcPct val="20000"/>
        </a:spcBef>
        <a:buFont typeface="Arial" pitchFamily="34" charset="0"/>
        <a:buChar char="–"/>
        <a:defRPr sz="8445" kern="1200">
          <a:solidFill>
            <a:schemeClr val="tx1"/>
          </a:solidFill>
          <a:latin typeface="+mn-lt"/>
          <a:ea typeface="+mn-ea"/>
          <a:cs typeface="+mn-cs"/>
        </a:defRPr>
      </a:lvl2pPr>
      <a:lvl3pPr marL="3471373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7314" kern="1200">
          <a:solidFill>
            <a:schemeClr val="tx1"/>
          </a:solidFill>
          <a:latin typeface="+mn-lt"/>
          <a:ea typeface="+mn-ea"/>
          <a:cs typeface="+mn-cs"/>
        </a:defRPr>
      </a:lvl3pPr>
      <a:lvl4pPr marL="4859922" indent="-694276" algn="l" defTabSz="2777100" rtl="0" eaLnBrk="1" latinLnBrk="1" hangingPunct="1">
        <a:spcBef>
          <a:spcPct val="20000"/>
        </a:spcBef>
        <a:buFont typeface="Arial" pitchFamily="34" charset="0"/>
        <a:buChar char="–"/>
        <a:defRPr sz="6052" kern="1200">
          <a:solidFill>
            <a:schemeClr val="tx1"/>
          </a:solidFill>
          <a:latin typeface="+mn-lt"/>
          <a:ea typeface="+mn-ea"/>
          <a:cs typeface="+mn-cs"/>
        </a:defRPr>
      </a:lvl4pPr>
      <a:lvl5pPr marL="6248472" indent="-694276" algn="l" defTabSz="2777100" rtl="0" eaLnBrk="1" latinLnBrk="1" hangingPunct="1">
        <a:spcBef>
          <a:spcPct val="20000"/>
        </a:spcBef>
        <a:buFont typeface="Arial" pitchFamily="34" charset="0"/>
        <a:buChar char="»"/>
        <a:defRPr sz="6052" kern="1200">
          <a:solidFill>
            <a:schemeClr val="tx1"/>
          </a:solidFill>
          <a:latin typeface="+mn-lt"/>
          <a:ea typeface="+mn-ea"/>
          <a:cs typeface="+mn-cs"/>
        </a:defRPr>
      </a:lvl5pPr>
      <a:lvl6pPr marL="7637023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6052" kern="1200">
          <a:solidFill>
            <a:schemeClr val="tx1"/>
          </a:solidFill>
          <a:latin typeface="+mn-lt"/>
          <a:ea typeface="+mn-ea"/>
          <a:cs typeface="+mn-cs"/>
        </a:defRPr>
      </a:lvl6pPr>
      <a:lvl7pPr marL="9025573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6052" kern="1200">
          <a:solidFill>
            <a:schemeClr val="tx1"/>
          </a:solidFill>
          <a:latin typeface="+mn-lt"/>
          <a:ea typeface="+mn-ea"/>
          <a:cs typeface="+mn-cs"/>
        </a:defRPr>
      </a:lvl7pPr>
      <a:lvl8pPr marL="10414122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6052" kern="1200">
          <a:solidFill>
            <a:schemeClr val="tx1"/>
          </a:solidFill>
          <a:latin typeface="+mn-lt"/>
          <a:ea typeface="+mn-ea"/>
          <a:cs typeface="+mn-cs"/>
        </a:defRPr>
      </a:lvl8pPr>
      <a:lvl9pPr marL="11802670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60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1pPr>
      <a:lvl2pPr marL="1388549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2pPr>
      <a:lvl3pPr marL="2777100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3pPr>
      <a:lvl4pPr marL="4165649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4pPr>
      <a:lvl5pPr marL="5554197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5pPr>
      <a:lvl6pPr marL="6942747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6pPr>
      <a:lvl7pPr marL="8331298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7pPr>
      <a:lvl8pPr marL="9719847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8pPr>
      <a:lvl9pPr marL="11108396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536" userDrawn="1">
          <p15:clr>
            <a:srgbClr val="F26B43"/>
          </p15:clr>
        </p15:guide>
        <p15:guide id="2" pos="673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35208259-8491-FAA0-62E5-64D2BDD2D759}"/>
              </a:ext>
            </a:extLst>
          </p:cNvPr>
          <p:cNvSpPr/>
          <p:nvPr/>
        </p:nvSpPr>
        <p:spPr>
          <a:xfrm>
            <a:off x="686376" y="6059516"/>
            <a:ext cx="9723171" cy="2225863"/>
          </a:xfrm>
          <a:prstGeom prst="rect">
            <a:avLst/>
          </a:prstGeom>
        </p:spPr>
        <p:txBody>
          <a:bodyPr wrap="square" lIns="70735" tIns="35368" rIns="70735" bIns="35368">
            <a:spAutoFit/>
          </a:bodyPr>
          <a:lstStyle/>
          <a:p>
            <a:pPr fontAlgn="base"/>
            <a:r>
              <a:rPr lang="ko-KR" altLang="en-US" sz="2000" dirty="0"/>
              <a:t>최근 지속적 수치로 증가하는 물가에 의해 자신이 가지고 있는 예산을 최대한 알차게 사용하려는 인구가 증가함에 따라 </a:t>
            </a:r>
            <a:r>
              <a:rPr lang="en-US" altLang="ko-KR" sz="2000" dirty="0"/>
              <a:t>AI</a:t>
            </a:r>
            <a:r>
              <a:rPr lang="ko-KR" altLang="en-US" sz="2000" dirty="0"/>
              <a:t>가 소비 습관의 방향성을 알려주는 가계부를 만든다</a:t>
            </a:r>
            <a:r>
              <a:rPr lang="en-US" altLang="ko-KR" sz="2000" dirty="0"/>
              <a:t>.</a:t>
            </a:r>
          </a:p>
          <a:p>
            <a:pPr fontAlgn="base"/>
            <a:endParaRPr lang="en-US" altLang="ko-KR" sz="2000" dirty="0"/>
          </a:p>
          <a:p>
            <a:pPr fontAlgn="base"/>
            <a:r>
              <a:rPr lang="ko-KR" altLang="en-US" sz="2000" dirty="0"/>
              <a:t>자체 소비 패턴 분석을 통해 사용자가 어느 분야의 소비에 가장 많은 금액을 사용하였는지 쉽게 확인 가능하며</a:t>
            </a:r>
            <a:r>
              <a:rPr lang="en-US" altLang="ko-KR" sz="2000" dirty="0"/>
              <a:t>, AI </a:t>
            </a:r>
            <a:r>
              <a:rPr lang="ko-KR" altLang="en-US" sz="2000" dirty="0" err="1"/>
              <a:t>챗봇</a:t>
            </a:r>
            <a:r>
              <a:rPr lang="ko-KR" altLang="en-US" sz="2000" dirty="0"/>
              <a:t> 기능을 통해 소비 습관 중 일부를 물어보거나 피드백을 받아 자신의 소비 습관을 개선할 수 있다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281" name="직사각형 280">
            <a:extLst>
              <a:ext uri="{FF2B5EF4-FFF2-40B4-BE49-F238E27FC236}">
                <a16:creationId xmlns:a16="http://schemas.microsoft.com/office/drawing/2014/main" id="{4F2D793C-6F09-0797-FE9B-F1E3666BCA87}"/>
              </a:ext>
            </a:extLst>
          </p:cNvPr>
          <p:cNvSpPr/>
          <p:nvPr/>
        </p:nvSpPr>
        <p:spPr>
          <a:xfrm>
            <a:off x="11705127" y="18403441"/>
            <a:ext cx="7748236" cy="1342544"/>
          </a:xfrm>
          <a:prstGeom prst="rect">
            <a:avLst/>
          </a:prstGeom>
        </p:spPr>
        <p:txBody>
          <a:bodyPr wrap="square" lIns="70735" tIns="35368" rIns="70735" bIns="35368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ko-KR" sz="1400" b="1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Gemini AI 2.5 Flash</a:t>
            </a:r>
            <a:r>
              <a:rPr lang="ko-KR" altLang="en-US" sz="14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사용하여 해당 </a:t>
            </a:r>
            <a:r>
              <a:rPr lang="ko-KR" altLang="en-US" sz="1400" spc="-15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챗봇에게</a:t>
            </a:r>
            <a:r>
              <a:rPr lang="ko-KR" altLang="en-US" sz="14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다양한 질문을 통해 관련 해답을 듣거나 방안 습득</a:t>
            </a:r>
            <a:r>
              <a:rPr lang="en-US" altLang="ko-KR" sz="14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그리고 문서화 등 현재 웹에서 제공하는 기능을 </a:t>
            </a:r>
            <a:r>
              <a:rPr lang="ko-KR" altLang="en-US" sz="1400" spc="-15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챗봇</a:t>
            </a:r>
            <a:r>
              <a:rPr lang="ko-KR" altLang="en-US" sz="14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대화 내에서 빠르게 제공한다</a:t>
            </a:r>
            <a:r>
              <a:rPr lang="en-US" altLang="ko-KR" sz="14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  <a:p>
            <a:pPr marL="0" lvl="1">
              <a:lnSpc>
                <a:spcPct val="120000"/>
              </a:lnSpc>
            </a:pPr>
            <a:r>
              <a:rPr lang="ko-KR" altLang="en-US" sz="14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그리고 내부에 있는 자체 템플릿과 </a:t>
            </a:r>
            <a:r>
              <a:rPr lang="en-US" altLang="ko-KR" sz="14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AI </a:t>
            </a:r>
            <a:r>
              <a:rPr lang="ko-KR" altLang="en-US" sz="14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자연어 생성으로 자연스럽게 대화하는 느낌을 낼 수 있도록 조성하고</a:t>
            </a:r>
            <a:r>
              <a:rPr lang="en-US" altLang="ko-KR" sz="14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 안에서도 필수로 알려주는 내용은 강조 처리를 하도록 조정하여 사용자가 필수로 알아야 하는</a:t>
            </a:r>
            <a:endParaRPr lang="en-US" altLang="ko-KR" sz="1400" spc="-15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0" lvl="1">
              <a:lnSpc>
                <a:spcPct val="120000"/>
              </a:lnSpc>
            </a:pPr>
            <a:r>
              <a:rPr lang="ko-KR" altLang="en-US" sz="14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내용을 쉽게 알 수 있다</a:t>
            </a:r>
            <a:r>
              <a:rPr lang="en-US" altLang="ko-KR" sz="14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83" name="사각형: 둥근 모서리 282">
            <a:extLst>
              <a:ext uri="{FF2B5EF4-FFF2-40B4-BE49-F238E27FC236}">
                <a16:creationId xmlns:a16="http://schemas.microsoft.com/office/drawing/2014/main" id="{1BB9E046-692C-0FBC-C641-5E7FED758EA7}"/>
              </a:ext>
            </a:extLst>
          </p:cNvPr>
          <p:cNvSpPr/>
          <p:nvPr/>
        </p:nvSpPr>
        <p:spPr>
          <a:xfrm>
            <a:off x="688578" y="5265168"/>
            <a:ext cx="9724290" cy="761695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3897" rIns="253897" rtlCol="0" anchor="ctr"/>
          <a:lstStyle/>
          <a:p>
            <a:pPr defTabSz="2190186">
              <a:defRPr/>
            </a:pPr>
            <a:r>
              <a:rPr lang="ko-KR" altLang="en-US" sz="43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개요</a:t>
            </a:r>
            <a:endParaRPr lang="en-US" altLang="ko-KR" sz="43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286" name="사각형: 둥근 모서리 285">
            <a:extLst>
              <a:ext uri="{FF2B5EF4-FFF2-40B4-BE49-F238E27FC236}">
                <a16:creationId xmlns:a16="http://schemas.microsoft.com/office/drawing/2014/main" id="{50F4F420-F5D2-5D8E-81C1-DA59CC503B5D}"/>
              </a:ext>
            </a:extLst>
          </p:cNvPr>
          <p:cNvSpPr/>
          <p:nvPr/>
        </p:nvSpPr>
        <p:spPr>
          <a:xfrm>
            <a:off x="688578" y="11956961"/>
            <a:ext cx="9724290" cy="761695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3897" rIns="253897" rtlCol="0" anchor="ctr"/>
          <a:lstStyle/>
          <a:p>
            <a:pPr defTabSz="2190186"/>
            <a:r>
              <a:rPr lang="ko-KR" altLang="en-US" sz="43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구성 및 동작 방식</a:t>
            </a:r>
            <a:r>
              <a:rPr lang="en-US" altLang="ko-KR" sz="43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 </a:t>
            </a:r>
          </a:p>
        </p:txBody>
      </p:sp>
      <p:sp>
        <p:nvSpPr>
          <p:cNvPr id="292" name="사각형: 둥근 모서리 291">
            <a:extLst>
              <a:ext uri="{FF2B5EF4-FFF2-40B4-BE49-F238E27FC236}">
                <a16:creationId xmlns:a16="http://schemas.microsoft.com/office/drawing/2014/main" id="{92D1E055-E015-2E7E-39EA-2D39F55767D8}"/>
              </a:ext>
            </a:extLst>
          </p:cNvPr>
          <p:cNvSpPr/>
          <p:nvPr/>
        </p:nvSpPr>
        <p:spPr>
          <a:xfrm>
            <a:off x="10852005" y="5289791"/>
            <a:ext cx="9724290" cy="761695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3897" rIns="253897" rtlCol="0" anchor="ctr"/>
          <a:lstStyle/>
          <a:p>
            <a:pPr defTabSz="2190186"/>
            <a:r>
              <a:rPr lang="ko-KR" altLang="en-US" sz="43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핵심기술</a:t>
            </a:r>
            <a:endParaRPr lang="en-US" altLang="ko-KR" sz="43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E1306BC-3447-6E2E-0E26-2AE52A4D3CAA}"/>
              </a:ext>
            </a:extLst>
          </p:cNvPr>
          <p:cNvSpPr/>
          <p:nvPr/>
        </p:nvSpPr>
        <p:spPr>
          <a:xfrm>
            <a:off x="11819970" y="11750100"/>
            <a:ext cx="2545788" cy="1104918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 자신의 잔액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수익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지출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그리고 전체 지출액을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AI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분석하여 원형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막대 그래프로 퍼센티지를 표시한다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C9C408D-EDA8-9F31-CF58-3894B264E0A6}"/>
              </a:ext>
            </a:extLst>
          </p:cNvPr>
          <p:cNvSpPr/>
          <p:nvPr/>
        </p:nvSpPr>
        <p:spPr>
          <a:xfrm>
            <a:off x="11973282" y="11410320"/>
            <a:ext cx="2239164" cy="3567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한눈에 보기 쉬운 정보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E77948B0-644C-5F39-327E-FB62DB118DC5}"/>
              </a:ext>
            </a:extLst>
          </p:cNvPr>
          <p:cNvSpPr/>
          <p:nvPr/>
        </p:nvSpPr>
        <p:spPr>
          <a:xfrm>
            <a:off x="17371483" y="11710863"/>
            <a:ext cx="2402257" cy="136345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AI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대시보드 상의 차트를 자체 분석하여 현재 사용으로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남은 잔액을 절약할 수 있는 팁을 알려주듯이 제시한다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20000"/>
              </a:lnSpc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FC175156-7562-9A40-9B36-F665DC59EE4F}"/>
              </a:ext>
            </a:extLst>
          </p:cNvPr>
          <p:cNvSpPr/>
          <p:nvPr/>
        </p:nvSpPr>
        <p:spPr>
          <a:xfrm>
            <a:off x="17996143" y="11406237"/>
            <a:ext cx="1152938" cy="3567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AI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추천 팁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80487AA-3D56-F3E3-BBEF-B9B83139439E}"/>
              </a:ext>
            </a:extLst>
          </p:cNvPr>
          <p:cNvSpPr/>
          <p:nvPr/>
        </p:nvSpPr>
        <p:spPr>
          <a:xfrm>
            <a:off x="1419723" y="462694"/>
            <a:ext cx="18864565" cy="963989"/>
          </a:xfrm>
          <a:prstGeom prst="rect">
            <a:avLst/>
          </a:prstGeom>
        </p:spPr>
        <p:txBody>
          <a:bodyPr wrap="square" lIns="70747" tIns="35373" rIns="70747" bIns="35373">
            <a:spAutoFit/>
          </a:bodyPr>
          <a:lstStyle/>
          <a:p>
            <a:pPr algn="ctr"/>
            <a:r>
              <a:rPr lang="en-US" altLang="ko-KR" sz="5800" b="1" cap="all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2" charset="-127"/>
                <a:ea typeface="나눔고딕 ExtraBold" pitchFamily="50" charset="-127"/>
                <a:cs typeface="Arial" panose="020B0604020202020204" pitchFamily="34" charset="0"/>
              </a:rPr>
              <a:t>AI</a:t>
            </a:r>
            <a:r>
              <a:rPr lang="ko-KR" altLang="en-US" sz="5800" b="1" cap="all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2" charset="-127"/>
                <a:ea typeface="나눔고딕 ExtraBold" pitchFamily="50" charset="-127"/>
                <a:cs typeface="Arial" panose="020B0604020202020204" pitchFamily="34" charset="0"/>
              </a:rPr>
              <a:t> 기반 가계부 </a:t>
            </a:r>
            <a:r>
              <a:rPr lang="en-US" altLang="ko-KR" sz="5800" b="1" cap="all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2" charset="-127"/>
                <a:ea typeface="나눔고딕 ExtraBold" pitchFamily="50" charset="-127"/>
                <a:cs typeface="Arial" panose="020B0604020202020204" pitchFamily="34" charset="0"/>
              </a:rPr>
              <a:t>Fin_log</a:t>
            </a:r>
            <a:endParaRPr lang="ko-KR" altLang="en-US" sz="5800" b="1" cap="all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" pitchFamily="2" charset="-127"/>
              <a:ea typeface="나눔고딕 ExtraBold" pitchFamily="50" charset="-127"/>
              <a:cs typeface="Arial" panose="020B0604020202020204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397CBC2-8135-A151-FABE-E1AE8C6B08D3}"/>
              </a:ext>
            </a:extLst>
          </p:cNvPr>
          <p:cNvSpPr/>
          <p:nvPr/>
        </p:nvSpPr>
        <p:spPr>
          <a:xfrm>
            <a:off x="2670536" y="3036968"/>
            <a:ext cx="16042552" cy="613124"/>
          </a:xfrm>
          <a:prstGeom prst="rect">
            <a:avLst/>
          </a:prstGeom>
        </p:spPr>
        <p:txBody>
          <a:bodyPr wrap="square" lIns="70747" tIns="35373" rIns="70747" bIns="35373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조성훈</a:t>
            </a:r>
            <a:r>
              <a:rPr lang="en-US" altLang="ko-KR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3200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신승완</a:t>
            </a:r>
            <a:r>
              <a:rPr lang="en-US" altLang="ko-KR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3200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이문규</a:t>
            </a:r>
            <a:endParaRPr lang="en-US" altLang="ko-KR" sz="3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DEC7F2C7-DF14-4589-80F0-0BF26CE2D5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49178" y="28632147"/>
            <a:ext cx="5718585" cy="957792"/>
          </a:xfrm>
          <a:prstGeom prst="rect">
            <a:avLst/>
          </a:prstGeom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A67A920C-7F84-43D6-98A3-13D7D447A0B8}"/>
              </a:ext>
            </a:extLst>
          </p:cNvPr>
          <p:cNvSpPr/>
          <p:nvPr/>
        </p:nvSpPr>
        <p:spPr>
          <a:xfrm>
            <a:off x="2530060" y="2097585"/>
            <a:ext cx="16042552" cy="613124"/>
          </a:xfrm>
          <a:prstGeom prst="rect">
            <a:avLst/>
          </a:prstGeom>
        </p:spPr>
        <p:txBody>
          <a:bodyPr wrap="square" lIns="70747" tIns="35373" rIns="70747" bIns="35373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동양미래대학교 </a:t>
            </a:r>
            <a:r>
              <a:rPr lang="ko-KR" altLang="en-US" sz="3200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컴퓨터소프트웨어공학과</a:t>
            </a: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 </a:t>
            </a:r>
            <a:r>
              <a:rPr lang="en-US" altLang="ko-KR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YD</a:t>
            </a: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반 </a:t>
            </a:r>
            <a:r>
              <a:rPr lang="en-US" altLang="ko-KR" sz="3200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Team_Unnamed</a:t>
            </a: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팀</a:t>
            </a:r>
            <a:endParaRPr lang="en-US" altLang="ko-KR" sz="3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651C02C-D83F-4D45-A3F4-D83E81399E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4525" y="25884730"/>
            <a:ext cx="4063492" cy="4063492"/>
          </a:xfrm>
          <a:prstGeom prst="rect">
            <a:avLst/>
          </a:prstGeom>
        </p:spPr>
      </p:pic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C53AE3C2-B36F-4A97-8460-EF1DAE57052A}"/>
              </a:ext>
            </a:extLst>
          </p:cNvPr>
          <p:cNvSpPr/>
          <p:nvPr/>
        </p:nvSpPr>
        <p:spPr>
          <a:xfrm>
            <a:off x="2726519" y="3662924"/>
            <a:ext cx="16042552" cy="613124"/>
          </a:xfrm>
          <a:prstGeom prst="rect">
            <a:avLst/>
          </a:prstGeom>
        </p:spPr>
        <p:txBody>
          <a:bodyPr wrap="square" lIns="70747" tIns="35373" rIns="70747" bIns="35373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지도교수 </a:t>
            </a:r>
            <a:r>
              <a:rPr lang="en-US" altLang="ko-KR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: </a:t>
            </a: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이희진</a:t>
            </a:r>
            <a:endParaRPr lang="en-US" altLang="ko-KR" sz="3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FB44F4E-3E88-7CF3-87C3-DB832F3E91D3}"/>
              </a:ext>
            </a:extLst>
          </p:cNvPr>
          <p:cNvSpPr/>
          <p:nvPr/>
        </p:nvSpPr>
        <p:spPr>
          <a:xfrm>
            <a:off x="641212" y="8462873"/>
            <a:ext cx="9724290" cy="761695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3897" rIns="253897" rtlCol="0" anchor="ctr"/>
          <a:lstStyle/>
          <a:p>
            <a:pPr defTabSz="2190186">
              <a:defRPr/>
            </a:pPr>
            <a:r>
              <a:rPr lang="ko-KR" altLang="en-US" sz="43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목적</a:t>
            </a:r>
            <a:endParaRPr lang="en-US" altLang="ko-KR" sz="43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8D67F10-72F5-CCF3-CB2D-03D09E45E811}"/>
              </a:ext>
            </a:extLst>
          </p:cNvPr>
          <p:cNvSpPr/>
          <p:nvPr/>
        </p:nvSpPr>
        <p:spPr>
          <a:xfrm>
            <a:off x="697476" y="9452968"/>
            <a:ext cx="9723171" cy="994756"/>
          </a:xfrm>
          <a:prstGeom prst="rect">
            <a:avLst/>
          </a:prstGeom>
        </p:spPr>
        <p:txBody>
          <a:bodyPr wrap="square" lIns="70735" tIns="35368" rIns="70735" bIns="35368">
            <a:spAutoFit/>
          </a:bodyPr>
          <a:lstStyle/>
          <a:p>
            <a:pPr fontAlgn="base"/>
            <a:r>
              <a:rPr lang="ko-KR" altLang="en-US" sz="2000" dirty="0"/>
              <a:t>가계부를 작성함에 있어서 디지털화가 아직 되지 않은 것 중 하나가 </a:t>
            </a:r>
            <a:r>
              <a:rPr lang="en-US" altLang="ko-KR" sz="2000" dirty="0"/>
              <a:t>‘</a:t>
            </a:r>
            <a:r>
              <a:rPr lang="ko-KR" altLang="en-US" sz="2000" dirty="0"/>
              <a:t>가계부</a:t>
            </a:r>
            <a:r>
              <a:rPr lang="en-US" altLang="ko-KR" sz="2000" dirty="0"/>
              <a:t>’</a:t>
            </a:r>
            <a:r>
              <a:rPr lang="ko-KR" altLang="en-US" sz="2000" dirty="0"/>
              <a:t>이기 때문에 </a:t>
            </a:r>
            <a:r>
              <a:rPr lang="en-US" altLang="ko-KR" sz="2000" dirty="0"/>
              <a:t>AI</a:t>
            </a:r>
            <a:r>
              <a:rPr lang="ko-KR" altLang="en-US" sz="2000" dirty="0"/>
              <a:t>가 우리의 재정상태를 살펴보고 간단한 정보 표시와 함께 제시를 해주는 가계부를 만드는 것이 목표이다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42A16E2-4813-41F0-A462-194C0B850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998" y="16043144"/>
            <a:ext cx="21383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9" name="모서리가 둥근 직사각형 81">
            <a:extLst>
              <a:ext uri="{FF2B5EF4-FFF2-40B4-BE49-F238E27FC236}">
                <a16:creationId xmlns:a16="http://schemas.microsoft.com/office/drawing/2014/main" id="{150E42E7-59BA-616D-E41D-88AF544D92AA}"/>
              </a:ext>
            </a:extLst>
          </p:cNvPr>
          <p:cNvSpPr/>
          <p:nvPr/>
        </p:nvSpPr>
        <p:spPr>
          <a:xfrm>
            <a:off x="11691512" y="6540120"/>
            <a:ext cx="7748236" cy="5077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91213" tIns="45607" rIns="91213" bIns="45607" numCol="1" anchor="ctr" anchorCtr="0" compatLnSpc="1">
            <a:prstTxWarp prst="textNoShape">
              <a:avLst/>
            </a:prstTxWarp>
          </a:bodyPr>
          <a:lstStyle/>
          <a:p>
            <a:pPr algn="ctr" defTabSz="864943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2800" b="1" spc="-49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대시보드</a:t>
            </a:r>
          </a:p>
        </p:txBody>
      </p:sp>
      <p:sp>
        <p:nvSpPr>
          <p:cNvPr id="32" name="Rectangle 4">
            <a:extLst>
              <a:ext uri="{FF2B5EF4-FFF2-40B4-BE49-F238E27FC236}">
                <a16:creationId xmlns:a16="http://schemas.microsoft.com/office/drawing/2014/main" id="{C2692B58-0E41-7F87-E1EA-EF661D0C1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4646" y="6538450"/>
            <a:ext cx="36170743" cy="797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D5DAE85E-BD83-2B14-7D4E-218212183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58929" y="12887295"/>
            <a:ext cx="35560432" cy="867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8" name="모서리가 둥근 직사각형 81">
            <a:extLst>
              <a:ext uri="{FF2B5EF4-FFF2-40B4-BE49-F238E27FC236}">
                <a16:creationId xmlns:a16="http://schemas.microsoft.com/office/drawing/2014/main" id="{C368D469-1269-6736-BADD-B10BC2860A2F}"/>
              </a:ext>
            </a:extLst>
          </p:cNvPr>
          <p:cNvSpPr/>
          <p:nvPr/>
        </p:nvSpPr>
        <p:spPr>
          <a:xfrm>
            <a:off x="1684943" y="21574388"/>
            <a:ext cx="7748236" cy="5077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91213" tIns="45607" rIns="91213" bIns="45607" numCol="1" anchor="ctr" anchorCtr="0" compatLnSpc="1">
            <a:prstTxWarp prst="textNoShape">
              <a:avLst/>
            </a:prstTxWarp>
          </a:bodyPr>
          <a:lstStyle/>
          <a:p>
            <a:pPr algn="ctr" defTabSz="864943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800" b="1" spc="-49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AWS </a:t>
            </a:r>
            <a:r>
              <a:rPr lang="ko-KR" altLang="en-US" sz="2800" b="1" spc="-49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라이브 서비스</a:t>
            </a:r>
          </a:p>
        </p:txBody>
      </p:sp>
      <p:sp>
        <p:nvSpPr>
          <p:cNvPr id="39" name="Rectangle 8">
            <a:extLst>
              <a:ext uri="{FF2B5EF4-FFF2-40B4-BE49-F238E27FC236}">
                <a16:creationId xmlns:a16="http://schemas.microsoft.com/office/drawing/2014/main" id="{7DA908C5-7D49-C512-5F11-6BA29E2B4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21518" y="18775648"/>
            <a:ext cx="34292618" cy="821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모서리가 둥근 직사각형 81">
            <a:extLst>
              <a:ext uri="{FF2B5EF4-FFF2-40B4-BE49-F238E27FC236}">
                <a16:creationId xmlns:a16="http://schemas.microsoft.com/office/drawing/2014/main" id="{54929A01-96CA-9890-E053-D9A48D638610}"/>
              </a:ext>
            </a:extLst>
          </p:cNvPr>
          <p:cNvSpPr/>
          <p:nvPr/>
        </p:nvSpPr>
        <p:spPr>
          <a:xfrm>
            <a:off x="11691511" y="13318667"/>
            <a:ext cx="7748236" cy="5077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91213" tIns="45607" rIns="91213" bIns="45607" numCol="1" anchor="ctr" anchorCtr="0" compatLnSpc="1">
            <a:prstTxWarp prst="textNoShape">
              <a:avLst/>
            </a:prstTxWarp>
          </a:bodyPr>
          <a:lstStyle/>
          <a:p>
            <a:pPr algn="ctr" defTabSz="864943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800" b="1" spc="-49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AI</a:t>
            </a:r>
            <a:r>
              <a:rPr lang="ko-KR" altLang="en-US" sz="2800" b="1" spc="-49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 </a:t>
            </a:r>
            <a:r>
              <a:rPr lang="ko-KR" altLang="en-US" sz="2800" b="1" spc="-49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챗봇</a:t>
            </a:r>
            <a:endParaRPr lang="ko-KR" altLang="en-US" sz="2800" b="1" spc="-49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latin typeface="나눔고딕" pitchFamily="50" charset="-127"/>
              <a:ea typeface="나눔고딕" pitchFamily="50" charset="-127"/>
              <a:cs typeface="Arial" pitchFamily="34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A2BD102-26CA-7817-7AB0-2100DCA8898D}"/>
              </a:ext>
            </a:extLst>
          </p:cNvPr>
          <p:cNvGrpSpPr/>
          <p:nvPr/>
        </p:nvGrpSpPr>
        <p:grpSpPr>
          <a:xfrm>
            <a:off x="1919350" y="26832660"/>
            <a:ext cx="7279422" cy="1151813"/>
            <a:chOff x="705498" y="4899640"/>
            <a:chExt cx="4452402" cy="1173580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6B07977-AE60-5949-34AB-E3A2864C8596}"/>
                </a:ext>
              </a:extLst>
            </p:cNvPr>
            <p:cNvSpPr/>
            <p:nvPr/>
          </p:nvSpPr>
          <p:spPr>
            <a:xfrm>
              <a:off x="705498" y="5210839"/>
              <a:ext cx="2050141" cy="862381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AWS</a:t>
              </a: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클라우드에 등록을 하여 혹여 서버가 다운되더라도 접속 가능하게 한다</a:t>
              </a: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 </a:t>
              </a: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그리고</a:t>
              </a:r>
              <a:endPara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>
                <a:lnSpc>
                  <a:spcPct val="120000"/>
                </a:lnSpc>
              </a:pP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언제 어디서든 자유롭게 접속할 수 있다</a:t>
              </a: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EC1D18F-2F56-8044-025A-17A36E556229}"/>
                </a:ext>
              </a:extLst>
            </p:cNvPr>
            <p:cNvSpPr/>
            <p:nvPr/>
          </p:nvSpPr>
          <p:spPr>
            <a:xfrm>
              <a:off x="1102498" y="4899640"/>
              <a:ext cx="1256171" cy="3449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6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24</a:t>
              </a:r>
              <a:r>
                <a:rPr lang="ko-KR" altLang="en-US" sz="16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시간 언제 어디서든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3B4496A-47F2-9187-23E6-4D447EBF2853}"/>
                </a:ext>
              </a:extLst>
            </p:cNvPr>
            <p:cNvSpPr/>
            <p:nvPr/>
          </p:nvSpPr>
          <p:spPr>
            <a:xfrm>
              <a:off x="3107759" y="5210839"/>
              <a:ext cx="2050141" cy="862381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EB(</a:t>
              </a:r>
              <a:r>
                <a:rPr lang="en-US" altLang="ko-KR" sz="14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Elastic Beanstalk</a:t>
              </a: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 </a:t>
              </a: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인스턴스로 구성하여 간단한 관리와 확실한 보안 그룹 구성으로 더욱 더 안전하게 관리 가능하다</a:t>
              </a: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E7D60C3-42EC-8A3B-7B4E-9102C791A527}"/>
                </a:ext>
              </a:extLst>
            </p:cNvPr>
            <p:cNvSpPr/>
            <p:nvPr/>
          </p:nvSpPr>
          <p:spPr>
            <a:xfrm>
              <a:off x="3632430" y="4899640"/>
              <a:ext cx="1000819" cy="3449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6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AWS</a:t>
              </a:r>
              <a:r>
                <a:rPr lang="ko-KR" altLang="en-US" sz="16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만의 안전성</a:t>
              </a:r>
            </a:p>
          </p:txBody>
        </p:sp>
      </p:grpSp>
      <p:sp>
        <p:nvSpPr>
          <p:cNvPr id="17" name="모서리가 둥근 직사각형 81">
            <a:extLst>
              <a:ext uri="{FF2B5EF4-FFF2-40B4-BE49-F238E27FC236}">
                <a16:creationId xmlns:a16="http://schemas.microsoft.com/office/drawing/2014/main" id="{0C8BD404-7593-5769-43AD-FF587F23D82F}"/>
              </a:ext>
            </a:extLst>
          </p:cNvPr>
          <p:cNvSpPr/>
          <p:nvPr/>
        </p:nvSpPr>
        <p:spPr>
          <a:xfrm>
            <a:off x="1684943" y="13387852"/>
            <a:ext cx="7748236" cy="5077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91213" tIns="45607" rIns="91213" bIns="45607" numCol="1" anchor="ctr" anchorCtr="0" compatLnSpc="1">
            <a:prstTxWarp prst="textNoShape">
              <a:avLst/>
            </a:prstTxWarp>
          </a:bodyPr>
          <a:lstStyle/>
          <a:p>
            <a:pPr algn="ctr" defTabSz="864943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800" b="1" spc="-49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AI</a:t>
            </a:r>
            <a:r>
              <a:rPr lang="ko-KR" altLang="en-US" sz="2800" b="1" spc="-49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 </a:t>
            </a:r>
            <a:r>
              <a:rPr lang="en-US" altLang="ko-KR" sz="2800" b="1" spc="-49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API</a:t>
            </a:r>
            <a:endParaRPr lang="ko-KR" altLang="en-US" sz="2800" b="1" spc="-49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latin typeface="나눔고딕" pitchFamily="50" charset="-127"/>
              <a:ea typeface="나눔고딕" pitchFamily="50" charset="-127"/>
              <a:cs typeface="Arial" pitchFamily="34" charset="0"/>
            </a:endParaRPr>
          </a:p>
        </p:txBody>
      </p:sp>
      <p:sp>
        <p:nvSpPr>
          <p:cNvPr id="23" name="모서리가 둥근 직사각형 81">
            <a:extLst>
              <a:ext uri="{FF2B5EF4-FFF2-40B4-BE49-F238E27FC236}">
                <a16:creationId xmlns:a16="http://schemas.microsoft.com/office/drawing/2014/main" id="{884AB995-A014-1D67-C71A-02BA0E0EF0AE}"/>
              </a:ext>
            </a:extLst>
          </p:cNvPr>
          <p:cNvSpPr/>
          <p:nvPr/>
        </p:nvSpPr>
        <p:spPr>
          <a:xfrm>
            <a:off x="641212" y="17537144"/>
            <a:ext cx="2017607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91213" tIns="45607" rIns="91213" bIns="45607" numCol="1" anchor="ctr" anchorCtr="0" compatLnSpc="1">
            <a:prstTxWarp prst="textNoShape">
              <a:avLst/>
            </a:prstTxWarp>
          </a:bodyPr>
          <a:lstStyle/>
          <a:p>
            <a:pPr algn="ctr" defTabSz="864943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800" b="1" spc="-49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DB</a:t>
            </a:r>
            <a:endParaRPr lang="ko-KR" altLang="en-US" sz="2800" b="1" spc="-49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latin typeface="나눔고딕" pitchFamily="50" charset="-127"/>
              <a:ea typeface="나눔고딕" pitchFamily="50" charset="-127"/>
              <a:cs typeface="Arial" pitchFamily="34" charset="0"/>
            </a:endParaRPr>
          </a:p>
        </p:txBody>
      </p:sp>
      <p:sp>
        <p:nvSpPr>
          <p:cNvPr id="2" name="순서도: 연결자 1">
            <a:extLst>
              <a:ext uri="{FF2B5EF4-FFF2-40B4-BE49-F238E27FC236}">
                <a16:creationId xmlns:a16="http://schemas.microsoft.com/office/drawing/2014/main" id="{3A9308AD-8ADA-1BDA-742F-9FAFDAAACCB1}"/>
              </a:ext>
            </a:extLst>
          </p:cNvPr>
          <p:cNvSpPr/>
          <p:nvPr/>
        </p:nvSpPr>
        <p:spPr>
          <a:xfrm>
            <a:off x="676946" y="15088547"/>
            <a:ext cx="1950085" cy="1951200"/>
          </a:xfrm>
          <a:prstGeom prst="flowChartConnector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5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서버</a:t>
            </a:r>
          </a:p>
        </p:txBody>
      </p:sp>
      <p:sp>
        <p:nvSpPr>
          <p:cNvPr id="5" name="순서도: 연결자 4">
            <a:extLst>
              <a:ext uri="{FF2B5EF4-FFF2-40B4-BE49-F238E27FC236}">
                <a16:creationId xmlns:a16="http://schemas.microsoft.com/office/drawing/2014/main" id="{EDD4A290-7C65-7F01-734D-47F8F3C67580}"/>
              </a:ext>
            </a:extLst>
          </p:cNvPr>
          <p:cNvSpPr/>
          <p:nvPr/>
        </p:nvSpPr>
        <p:spPr>
          <a:xfrm>
            <a:off x="8415417" y="15067544"/>
            <a:ext cx="1950085" cy="1951200"/>
          </a:xfrm>
          <a:prstGeom prst="flowChartConnector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5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사용자</a:t>
            </a: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E2BAB742-C766-C767-B9DB-1A7B557FEC55}"/>
              </a:ext>
            </a:extLst>
          </p:cNvPr>
          <p:cNvSpPr/>
          <p:nvPr/>
        </p:nvSpPr>
        <p:spPr>
          <a:xfrm>
            <a:off x="4550282" y="15075618"/>
            <a:ext cx="1950085" cy="1951200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5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AI</a:t>
            </a:r>
            <a:endParaRPr lang="ko-KR" altLang="en-US" sz="25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42D21DE9-0F41-2E92-6210-A542CB6C2685}"/>
              </a:ext>
            </a:extLst>
          </p:cNvPr>
          <p:cNvCxnSpPr>
            <a:cxnSpLocks/>
          </p:cNvCxnSpPr>
          <p:nvPr/>
        </p:nvCxnSpPr>
        <p:spPr>
          <a:xfrm flipH="1">
            <a:off x="6443340" y="15636189"/>
            <a:ext cx="19720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1DBACFF-FA08-DC7A-7F2C-321E30BCEA15}"/>
              </a:ext>
            </a:extLst>
          </p:cNvPr>
          <p:cNvCxnSpPr>
            <a:cxnSpLocks/>
          </p:cNvCxnSpPr>
          <p:nvPr/>
        </p:nvCxnSpPr>
        <p:spPr>
          <a:xfrm flipH="1">
            <a:off x="2574104" y="15636189"/>
            <a:ext cx="19720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91E2477E-0932-BFB7-CA02-3EFAA47BCF46}"/>
              </a:ext>
            </a:extLst>
          </p:cNvPr>
          <p:cNvCxnSpPr>
            <a:cxnSpLocks/>
          </p:cNvCxnSpPr>
          <p:nvPr/>
        </p:nvCxnSpPr>
        <p:spPr>
          <a:xfrm>
            <a:off x="2627031" y="16500344"/>
            <a:ext cx="18971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2CA68375-3A05-B370-88C3-14604A35DF09}"/>
              </a:ext>
            </a:extLst>
          </p:cNvPr>
          <p:cNvCxnSpPr>
            <a:cxnSpLocks/>
          </p:cNvCxnSpPr>
          <p:nvPr/>
        </p:nvCxnSpPr>
        <p:spPr>
          <a:xfrm>
            <a:off x="6496266" y="16480528"/>
            <a:ext cx="18971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432570B-732A-FAB8-F606-91DE157C6059}"/>
              </a:ext>
            </a:extLst>
          </p:cNvPr>
          <p:cNvSpPr txBox="1"/>
          <p:nvPr/>
        </p:nvSpPr>
        <p:spPr>
          <a:xfrm>
            <a:off x="6659364" y="15281622"/>
            <a:ext cx="1562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메시지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EC0729C-8F91-F941-1453-ED31A6E6DD66}"/>
              </a:ext>
            </a:extLst>
          </p:cNvPr>
          <p:cNvSpPr txBox="1"/>
          <p:nvPr/>
        </p:nvSpPr>
        <p:spPr>
          <a:xfrm>
            <a:off x="2790128" y="15315012"/>
            <a:ext cx="1562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DB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데이터 요청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F509AE1-F74C-76F5-2E0E-6CE3856F7DB9}"/>
              </a:ext>
            </a:extLst>
          </p:cNvPr>
          <p:cNvSpPr txBox="1"/>
          <p:nvPr/>
        </p:nvSpPr>
        <p:spPr>
          <a:xfrm>
            <a:off x="2778893" y="16510732"/>
            <a:ext cx="1562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DB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데이터 전송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925DCD2-BE72-ED62-2AB8-FC7A0717AF17}"/>
              </a:ext>
            </a:extLst>
          </p:cNvPr>
          <p:cNvSpPr txBox="1"/>
          <p:nvPr/>
        </p:nvSpPr>
        <p:spPr>
          <a:xfrm>
            <a:off x="6662816" y="16510732"/>
            <a:ext cx="1562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응답 생성</a:t>
            </a: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A7BC30D1-5DC9-1E53-D794-A5B04E47CEC3}"/>
              </a:ext>
            </a:extLst>
          </p:cNvPr>
          <p:cNvCxnSpPr>
            <a:cxnSpLocks/>
            <a:stCxn id="2" idx="4"/>
            <a:endCxn id="23" idx="0"/>
          </p:cNvCxnSpPr>
          <p:nvPr/>
        </p:nvCxnSpPr>
        <p:spPr>
          <a:xfrm flipH="1">
            <a:off x="1650016" y="17039747"/>
            <a:ext cx="1973" cy="497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A6A8245-3E61-7F46-4AB5-4A639B6FBF73}"/>
              </a:ext>
            </a:extLst>
          </p:cNvPr>
          <p:cNvSpPr txBox="1"/>
          <p:nvPr/>
        </p:nvSpPr>
        <p:spPr>
          <a:xfrm>
            <a:off x="1650015" y="17094722"/>
            <a:ext cx="1562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DB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데이터 조회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FEF28AFC-2A1D-A680-5DDE-41CD94332776}"/>
              </a:ext>
            </a:extLst>
          </p:cNvPr>
          <p:cNvSpPr/>
          <p:nvPr/>
        </p:nvSpPr>
        <p:spPr>
          <a:xfrm>
            <a:off x="1728977" y="18498700"/>
            <a:ext cx="7748236" cy="2410529"/>
          </a:xfrm>
          <a:prstGeom prst="rect">
            <a:avLst/>
          </a:prstGeom>
        </p:spPr>
        <p:txBody>
          <a:bodyPr wrap="square" lIns="70735" tIns="35368" rIns="70735" bIns="35368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ko-KR" altLang="en-US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먼저 사용자가 서버에 메시지를 보내면 브라우저는 서버의 </a:t>
            </a:r>
            <a:r>
              <a:rPr lang="en-US" altLang="ko-KR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chatbot </a:t>
            </a:r>
            <a:r>
              <a:rPr lang="ko-KR" altLang="en-US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파일로 </a:t>
            </a:r>
            <a:r>
              <a:rPr lang="en-US" altLang="ko-KR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“</a:t>
            </a:r>
            <a:r>
              <a:rPr lang="ko-KR" altLang="en-US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메시지에 대한 답변</a:t>
            </a:r>
            <a:r>
              <a:rPr lang="en-US" altLang="ko-KR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”</a:t>
            </a:r>
            <a:r>
              <a:rPr lang="ko-KR" altLang="en-US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을 요청한다</a:t>
            </a:r>
            <a:r>
              <a:rPr lang="en-US" altLang="ko-KR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 </a:t>
            </a:r>
            <a:r>
              <a:rPr lang="ko-KR" altLang="en-US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 후 서버에서는 </a:t>
            </a:r>
            <a:r>
              <a:rPr lang="en-US" altLang="ko-KR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AI</a:t>
            </a:r>
            <a:r>
              <a:rPr lang="ko-KR" altLang="en-US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</a:t>
            </a:r>
            <a:r>
              <a:rPr lang="en-US" altLang="ko-KR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API</a:t>
            </a:r>
            <a:r>
              <a:rPr lang="ko-KR" altLang="en-US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에 해당 데이터의 필요 여부를 물어본다</a:t>
            </a:r>
            <a:r>
              <a:rPr lang="en-US" altLang="ko-KR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  <a:p>
            <a:pPr marL="0" lvl="1">
              <a:lnSpc>
                <a:spcPct val="120000"/>
              </a:lnSpc>
            </a:pPr>
            <a:r>
              <a:rPr lang="ko-KR" altLang="en-US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이후 </a:t>
            </a:r>
            <a:r>
              <a:rPr lang="en-US" altLang="ko-KR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AI API</a:t>
            </a:r>
            <a:r>
              <a:rPr lang="ko-KR" altLang="en-US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에서 데이터베이스에 접속 후</a:t>
            </a:r>
            <a:r>
              <a:rPr lang="en-US" altLang="ko-KR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필요한 사용자의 데이터를 </a:t>
            </a:r>
            <a:r>
              <a:rPr lang="en-US" altLang="ko-KR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SELECT </a:t>
            </a:r>
            <a:r>
              <a:rPr lang="ko-KR" altLang="en-US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쿼리문으로 가져온다</a:t>
            </a:r>
            <a:r>
              <a:rPr lang="en-US" altLang="ko-KR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  <a:p>
            <a:pPr marL="0" lvl="1">
              <a:lnSpc>
                <a:spcPct val="120000"/>
              </a:lnSpc>
            </a:pPr>
            <a:endParaRPr lang="en-US" altLang="ko-KR" sz="1600" spc="-15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0" lvl="1">
              <a:lnSpc>
                <a:spcPct val="120000"/>
              </a:lnSpc>
            </a:pPr>
            <a:r>
              <a:rPr lang="ko-KR" altLang="en-US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다음으로</a:t>
            </a:r>
            <a:r>
              <a:rPr lang="en-US" altLang="ko-KR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서버에서 해당 데이터를 읽어온 후 </a:t>
            </a:r>
            <a:r>
              <a:rPr lang="ko-KR" altLang="en-US" sz="1600" spc="-15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챗봇</a:t>
            </a:r>
            <a:r>
              <a:rPr lang="ko-KR" altLang="en-US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프롬프트 파일에서 사용할 지시</a:t>
            </a:r>
            <a:endParaRPr lang="en-US" altLang="ko-KR" sz="1600" spc="-15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0" lvl="1">
              <a:lnSpc>
                <a:spcPct val="120000"/>
              </a:lnSpc>
            </a:pPr>
            <a:r>
              <a:rPr lang="ko-KR" altLang="en-US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템플릿을 가져온다</a:t>
            </a:r>
            <a:r>
              <a:rPr lang="en-US" altLang="ko-KR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 </a:t>
            </a:r>
            <a:r>
              <a:rPr lang="ko-KR" altLang="en-US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이후 서버 내에서 완성된 명령서와 대화 기록</a:t>
            </a:r>
            <a:r>
              <a:rPr lang="en-US" altLang="ko-KR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사용자의 질문을 </a:t>
            </a:r>
            <a:r>
              <a:rPr lang="en-US" altLang="ko-KR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Gemini 2.5 flash </a:t>
            </a:r>
            <a:r>
              <a:rPr lang="ko-KR" altLang="en-US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모델에 전달 후 답변을 생성한다</a:t>
            </a:r>
            <a:r>
              <a:rPr lang="en-US" altLang="ko-KR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 </a:t>
            </a:r>
            <a:r>
              <a:rPr lang="ko-KR" altLang="en-US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 답변을 사용자에게 전달한다</a:t>
            </a:r>
            <a:r>
              <a:rPr lang="en-US" altLang="ko-KR" sz="16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73" name="그림 72" descr="그래픽, 폰트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1B1324-26EE-8478-BC8E-64AE4FC5E2B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822" y="22767247"/>
            <a:ext cx="4715147" cy="3143431"/>
          </a:xfrm>
          <a:prstGeom prst="rect">
            <a:avLst/>
          </a:prstGeom>
        </p:spPr>
      </p:pic>
      <p:sp>
        <p:nvSpPr>
          <p:cNvPr id="74" name="모서리가 둥근 직사각형 81">
            <a:extLst>
              <a:ext uri="{FF2B5EF4-FFF2-40B4-BE49-F238E27FC236}">
                <a16:creationId xmlns:a16="http://schemas.microsoft.com/office/drawing/2014/main" id="{1F0ACEDD-6AAC-B20B-48DF-4AE6556CF755}"/>
              </a:ext>
            </a:extLst>
          </p:cNvPr>
          <p:cNvSpPr/>
          <p:nvPr/>
        </p:nvSpPr>
        <p:spPr>
          <a:xfrm>
            <a:off x="11691511" y="20095785"/>
            <a:ext cx="7748236" cy="5077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91213" tIns="45607" rIns="91213" bIns="45607" numCol="1" anchor="ctr" anchorCtr="0" compatLnSpc="1">
            <a:prstTxWarp prst="textNoShape">
              <a:avLst/>
            </a:prstTxWarp>
          </a:bodyPr>
          <a:lstStyle/>
          <a:p>
            <a:pPr algn="ctr" defTabSz="864943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2800" b="1" spc="-49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관리자 계정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786DC79E-1A92-F87B-5D9E-0DDDB219A74F}"/>
              </a:ext>
            </a:extLst>
          </p:cNvPr>
          <p:cNvSpPr/>
          <p:nvPr/>
        </p:nvSpPr>
        <p:spPr>
          <a:xfrm>
            <a:off x="11705127" y="24951269"/>
            <a:ext cx="7748236" cy="566947"/>
          </a:xfrm>
          <a:prstGeom prst="rect">
            <a:avLst/>
          </a:prstGeom>
        </p:spPr>
        <p:txBody>
          <a:bodyPr wrap="square" lIns="70735" tIns="35368" rIns="70735" bIns="35368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ko-KR" altLang="en-US" sz="14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관리자 계정으로 들어갔을 때 </a:t>
            </a:r>
            <a:r>
              <a:rPr lang="ko-KR" altLang="en-US" sz="1400" spc="-15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챗봇</a:t>
            </a:r>
            <a:r>
              <a:rPr lang="ko-KR" altLang="en-US" sz="14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위에 하나 더 생성이 되는데 그것을</a:t>
            </a:r>
            <a:r>
              <a:rPr lang="en-US" altLang="ko-KR" sz="14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‘</a:t>
            </a:r>
            <a:r>
              <a:rPr lang="ko-KR" altLang="en-US" sz="14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관리자 </a:t>
            </a:r>
            <a:r>
              <a:rPr lang="ko-KR" altLang="en-US" sz="1400" spc="-15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챗봇</a:t>
            </a:r>
            <a:r>
              <a:rPr lang="en-US" altLang="ko-KR" sz="14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4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이라 한다</a:t>
            </a:r>
            <a:r>
              <a:rPr lang="en-US" altLang="ko-KR" sz="14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 </a:t>
            </a:r>
            <a:r>
              <a:rPr lang="ko-KR" altLang="en-US" sz="14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여기서 이 </a:t>
            </a:r>
            <a:r>
              <a:rPr lang="ko-KR" altLang="en-US" sz="1400" spc="-15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챗봇을</a:t>
            </a:r>
            <a:r>
              <a:rPr lang="ko-KR" altLang="en-US" sz="14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통해 다른 사용자의 정보 변경 및 </a:t>
            </a:r>
            <a:r>
              <a:rPr lang="ko-KR" altLang="en-US" sz="1400" spc="-15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백엔드를</a:t>
            </a:r>
            <a:r>
              <a:rPr lang="ko-KR" altLang="en-US" sz="14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직접 조작하여 내가 원하는 대로 설정을 할 수 있다</a:t>
            </a:r>
            <a:r>
              <a:rPr lang="en-US" altLang="ko-KR" sz="14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F6DD35C-92C2-F4E2-73A2-E1FB80E82F57}"/>
              </a:ext>
            </a:extLst>
          </p:cNvPr>
          <p:cNvSpPr/>
          <p:nvPr/>
        </p:nvSpPr>
        <p:spPr>
          <a:xfrm>
            <a:off x="15396795" y="11410320"/>
            <a:ext cx="75213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문서화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52BF8D8-6E40-EB12-662D-D269E9AA7EFA}"/>
              </a:ext>
            </a:extLst>
          </p:cNvPr>
          <p:cNvSpPr/>
          <p:nvPr/>
        </p:nvSpPr>
        <p:spPr>
          <a:xfrm>
            <a:off x="14499966" y="11727010"/>
            <a:ext cx="2545788" cy="1104918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우리가 원하는 사이즈의 용지 크기 및 양식으로 조정하여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차트 혹은 거래 내역을 문서로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다운로드 할 수 있다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7" name="그림 26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57D621-EFEA-6B4B-74D8-CCF49C102EE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0248" y="21102488"/>
            <a:ext cx="1254253" cy="3398245"/>
          </a:xfrm>
          <a:prstGeom prst="rect">
            <a:avLst/>
          </a:prstGeom>
        </p:spPr>
      </p:pic>
      <p:pic>
        <p:nvPicPr>
          <p:cNvPr id="30" name="그림 29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B52C5B-5229-FDF7-F9AD-123883CC14F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6566" y="21130665"/>
            <a:ext cx="5809903" cy="3398245"/>
          </a:xfrm>
          <a:prstGeom prst="rect">
            <a:avLst/>
          </a:prstGeom>
        </p:spPr>
      </p:pic>
      <p:pic>
        <p:nvPicPr>
          <p:cNvPr id="35" name="그림 3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2554BE-DD02-4008-CD08-F19754C7AC1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6841" y="7526229"/>
            <a:ext cx="6949628" cy="3352924"/>
          </a:xfrm>
          <a:prstGeom prst="rect">
            <a:avLst/>
          </a:prstGeom>
        </p:spPr>
      </p:pic>
      <p:pic>
        <p:nvPicPr>
          <p:cNvPr id="40" name="그림 39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E2B225-5859-621E-58D7-194B51F5792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0552" y="14537956"/>
            <a:ext cx="6821057" cy="327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498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1340</TotalTime>
  <Words>443</Words>
  <Application>Microsoft Office PowerPoint</Application>
  <PresentationFormat>사용자 지정</PresentationFormat>
  <Paragraphs>53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나눔고딕</vt:lpstr>
      <vt:lpstr>나눔고딕 ExtraBold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승완 신</cp:lastModifiedBy>
  <cp:revision>115</cp:revision>
  <dcterms:created xsi:type="dcterms:W3CDTF">2018-10-17T01:18:09Z</dcterms:created>
  <dcterms:modified xsi:type="dcterms:W3CDTF">2025-10-28T10:25:54Z</dcterms:modified>
</cp:coreProperties>
</file>